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9" r:id="rId3"/>
    <p:sldId id="262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C68D6-A92F-467C-8E1D-74E0A30492F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EA1A6-4DAD-424E-B36E-F73B2422C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8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EA1A6-4DAD-424E-B36E-F73B2422C4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3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794760" y="0"/>
            <a:ext cx="109728" cy="685800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200" b="1">
                <a:solidFill>
                  <a:srgbClr val="0EA5A4"/>
                </a:solidFill>
                <a:latin typeface="Aptos"/>
              </a:defRPr>
            </a:pPr>
            <a:r>
              <a:t>DA02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27432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CinemaScope</a:t>
            </a:r>
            <a:br/>
            <a: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420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Aptos"/>
              </a:defRPr>
            </a:pPr>
            <a:r>
              <a:t>Unveiling the Dynamics of Movie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1460"/>
            <a:ext cx="2651760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rPr dirty="0"/>
              <a:t>Ankit Mishra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34840" y="841248"/>
            <a:ext cx="6766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11263A"/>
                </a:solidFill>
                <a:latin typeface="Aptos"/>
              </a:defRPr>
            </a:pPr>
            <a:r>
              <a:t>Complete Final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298448"/>
            <a:ext cx="6858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50" b="0">
                <a:solidFill>
                  <a:srgbClr val="475569"/>
                </a:solidFill>
                <a:latin typeface="Aptos"/>
              </a:defRPr>
            </a:pPr>
            <a:r>
              <a:t>Business Analytics | SQL ETL | Excel EDA | Power BI | n8n + GenAI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5433578" y="2231136"/>
            <a:ext cx="119664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85459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4331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4331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Schema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6584198" y="2231136"/>
            <a:ext cx="119664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3608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4951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4951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7734818" y="2231136"/>
            <a:ext cx="119664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88670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557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557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8885438" y="2231136"/>
            <a:ext cx="119664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3732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619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619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9" name="Right Triangle 28"/>
          <p:cNvSpPr/>
          <p:nvPr/>
        </p:nvSpPr>
        <p:spPr>
          <a:xfrm>
            <a:off x="10036058" y="2231136"/>
            <a:ext cx="119664" cy="164592"/>
          </a:xfrm>
          <a:prstGeom prst="rt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18794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0681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DC262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681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Automation</a:t>
            </a:r>
          </a:p>
        </p:txBody>
      </p:sp>
      <p:pic>
        <p:nvPicPr>
          <p:cNvPr id="33" name="Picture 32" descr="top_mov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1" y="3246120"/>
            <a:ext cx="4283857" cy="2331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Raw movie data is not directly decision-ready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High budget does not always mean high ROI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Business teams need clear insights without manual dashboard review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Movie performance needs both creative and financial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Clean and transform movie data using SQL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Analyze movie performance through Excel visuals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Build Power BI dashboards for decision-making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Automate explanations using n8n and 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Business Case Study: Netflix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Why Netflix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Global OTT platform for movies, shows, documentaries, anime, and originals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Changed entertainment from fixed schedules to on-demand viewing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Uses personalization, content depth, and device flexibility to drive engagement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Relevant because streaming decisions are heavily data-driven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Improves customer retention through recommendation quality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Creates brand loyalty through original content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Expands globally through dubbing, subtitles, and regional catalog strategy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Uses analytics to guide content acquisition and production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Hollywood Insights Dataset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987552"/>
            <a:ext cx="73152" cy="82296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7,665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Cleaned Movies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16352" y="987552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9232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1980-2020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Year 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74336" y="987552"/>
            <a:ext cx="73152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7216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Genres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0" y="987552"/>
            <a:ext cx="73152" cy="8229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90304" y="987552"/>
            <a:ext cx="73152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73184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6.39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Avg IMDb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2139696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25880" y="2139696"/>
            <a:ext cx="73152" cy="82296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08760" y="2276856"/>
            <a:ext cx="22219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$587.1B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2651760"/>
            <a:ext cx="22219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Total Gross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2139696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51960" y="2139696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34840" y="2276856"/>
            <a:ext cx="22219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$364.3B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651760"/>
            <a:ext cx="22219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2139696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78040" y="2139696"/>
            <a:ext cx="73152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60919" y="2276856"/>
            <a:ext cx="22219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$25.5M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19" y="2651760"/>
            <a:ext cx="22219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Avg Budget</a:t>
            </a:r>
          </a:p>
        </p:txBody>
      </p:sp>
      <p:sp>
        <p:nvSpPr>
          <p:cNvPr id="39" name="Oval 38"/>
          <p:cNvSpPr/>
          <p:nvPr/>
        </p:nvSpPr>
        <p:spPr>
          <a:xfrm>
            <a:off x="1143000" y="3886200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53312" y="3794760"/>
            <a:ext cx="9573767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Dataset supports performance, profitability, genre, country, rating, star, director, and company analysis</a:t>
            </a:r>
          </a:p>
        </p:txBody>
      </p:sp>
      <p:sp>
        <p:nvSpPr>
          <p:cNvPr id="41" name="Oval 40"/>
          <p:cNvSpPr/>
          <p:nvPr/>
        </p:nvSpPr>
        <p:spPr>
          <a:xfrm>
            <a:off x="1143000" y="4453128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353312" y="4361688"/>
            <a:ext cx="9573767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Profitability was created as the main financial decision metric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End-to-End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Business Case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264968" y="1449323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91739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10611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0611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Schema Design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070908" y="1449323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79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1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SQL ETL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876848" y="1449323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03620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249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2492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Excel EDA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682788" y="1449323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09559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488728" y="1449323"/>
            <a:ext cx="164592" cy="164592"/>
          </a:xfrm>
          <a:prstGeom prst="rt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15500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3437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DC262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4372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n8n + GenAI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269748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2606040"/>
            <a:ext cx="495604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Week I: business understanding, schema, guesstimates, A/B testing, and DBMS foundations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32826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" y="3191256"/>
            <a:ext cx="495604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Week II: SQL cleaning, Excel analysis, visuals, observations, and recommendations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" y="3867911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3776472"/>
            <a:ext cx="495604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Week III: Power BI dashboarding and GenAI-powered automation workflows</a:t>
            </a:r>
          </a:p>
        </p:txBody>
      </p:sp>
      <p:pic>
        <p:nvPicPr>
          <p:cNvPr id="36" name="Picture 35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48167"/>
            <a:ext cx="4892040" cy="253890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Product Dissection: Features and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Personalized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Netflix Originals and exclusive releases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Offline downloads and continue watching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Multi-device access and adaptive streaming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Multi-language subtitles and dubbing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Engagement Value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Reduces content discovery friction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Increases watch time and repeat usage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Improves convenience across network conditions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Supports global audience growth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62102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52958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Strengthens subscription stickiness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Real-World Problems and Platform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Problems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Limited content access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Fixed TV schedules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Difficulty finding relevant titles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Language and regional barriers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High churn after early usage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Netflix Solutions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Anytime online streaming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On-demand content library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AI-powered content recommendations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Dubbing, subtitles, and regional originals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62102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52958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Personalized retention campaigns and exclusive releases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Financial Roadmap: 25% Profit 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024128"/>
            <a:ext cx="73152" cy="86868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AI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7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38727" y="1024128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7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Ad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27648" y="1024128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Sharing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7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16567" y="1024128"/>
            <a:ext cx="73152" cy="8686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7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7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Regional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2167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8" y="2167128"/>
            <a:ext cx="73152" cy="8686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2304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679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Cost optimization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38727" y="2167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38727" y="2167128"/>
            <a:ext cx="73152" cy="8686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7" y="2304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7" y="2679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2167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27648" y="2167128"/>
            <a:ext cx="73152" cy="86868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2304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679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Partnerships</a:t>
            </a:r>
          </a:p>
        </p:txBody>
      </p:sp>
      <p:sp>
        <p:nvSpPr>
          <p:cNvPr id="35" name="Oval 34"/>
          <p:cNvSpPr/>
          <p:nvPr/>
        </p:nvSpPr>
        <p:spPr>
          <a:xfrm>
            <a:off x="1005840" y="402335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16152" y="3931920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Growth comes from personalization, new price tiers, regional expansion, paid sharing, and lower churn</a:t>
            </a:r>
          </a:p>
        </p:txBody>
      </p:sp>
      <p:sp>
        <p:nvSpPr>
          <p:cNvPr id="37" name="Oval 36"/>
          <p:cNvSpPr/>
          <p:nvPr/>
        </p:nvSpPr>
        <p:spPr>
          <a:xfrm>
            <a:off x="1005840" y="459028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16152" y="4498848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Profit improves when high-budget content is approved using demand and ROI signals</a:t>
            </a:r>
          </a:p>
        </p:txBody>
      </p:sp>
      <p:sp>
        <p:nvSpPr>
          <p:cNvPr id="39" name="Oval 38"/>
          <p:cNvSpPr/>
          <p:nvPr/>
        </p:nvSpPr>
        <p:spPr>
          <a:xfrm>
            <a:off x="1005840" y="515721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16152" y="5065776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Roadmap: analytics pilots, rollout, then optimization through dashboard and automation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Schema Design: Streaming Platform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Core Entities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Users, profiles, subscriptions, payments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Content, genres, people, devices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Watch history, ratings, recommendations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Plans, regions, and engagement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Business Use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Subscription and payment reporting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Recommendation and personalization models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Engagement and retention analytics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Content performance and catalog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Relational Schema and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868680"/>
            <a:ext cx="10213848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50" b="0">
                <a:solidFill>
                  <a:srgbClr val="0F172A"/>
                </a:solidFill>
                <a:latin typeface="Aptos"/>
              </a:defRPr>
            </a:pPr>
            <a:r>
              <a:t>ER model links user activity, content catalog, subscription revenue, and recommendation outputs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8074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289304"/>
            <a:ext cx="10213848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50" b="0">
                <a:solidFill>
                  <a:srgbClr val="0F172A"/>
                </a:solidFill>
                <a:latin typeface="Aptos"/>
              </a:defRPr>
            </a:pPr>
            <a:r>
              <a:t>This supports analytics for engagement, billing, retention, and content strategy</a:t>
            </a:r>
          </a:p>
        </p:txBody>
      </p:sp>
      <p:pic>
        <p:nvPicPr>
          <p:cNvPr id="11" name="Picture 10" descr="netflix er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17" y="1691640"/>
            <a:ext cx="10444005" cy="45720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Guesstimates: Entertainment Market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051560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Streaming subscription growth: estimated 35% to 45% globally over five years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Digital content consumption in 2025: estimated 20 to 25 hours per person per week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221991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VR/AR entertainment share in next decade: estimated 8% to 12%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2807208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New films and TV shows by 2030: estimated 75,000 to 100,000 titles per year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392424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International box office share: estimated 65% to 70% of global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Cohort Analysis and A/B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Premium Subscription Cohort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Group users by signup month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Track renewal in following months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Retention = renewed users / original cohort x 100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Improve month-3 drop-off using offers, exclusives, and personalization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Tutorial A/B Test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Version A: text-based tutorial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Version B: interactive guide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Metrics: D1/D7 retention, conversion, first purchase, ARPU, LTV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If B converts better but retains worse, refine and retest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DBMS Concepts: ACID, Indexing, Partitioning, Sharding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051560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ACID transactions protect payment, movie-library access, and last-seat reservation integrity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Indexes improve actor, genre, language, title, and description search performance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221991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Partitioning by date and region speeds streaming-log analytics and country reports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2807208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Sharding by user_id helps scale global authentication during high-traffic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392424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Sharding subscriptions by region can create cross-shard reporting and billing complexity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Data Architecture: Lakes, Warehouses, ETL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051560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Raw clickstream and app logs belong in a data lake for flexible storage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Cleaned churn, subscription, payment, and engagement KPIs belong in a warehouse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221991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Live viewing data can stream from apps and smart TVs into dashboards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2807208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Weekly box office data can use scheduled batch ETL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392424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Versioning, audit logs, fuzzy matching, and idempotent ETL improve governance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43000"/>
            <a:ext cx="109728" cy="438912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SQL ETL Database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907792"/>
            <a:ext cx="9509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PostgreSQL extraction, cleaning, transformation and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309360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Aptos"/>
              </a:defRPr>
            </a:pPr>
            <a:r>
              <a:t>DA02 |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ETL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Create Table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285390" y="1339596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1155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3042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042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Import CSV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083710" y="1339596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0987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874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4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Missing Check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882030" y="1339596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0819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06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680350" y="1339596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0651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538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538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Clean Table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478670" y="1339596"/>
            <a:ext cx="164592" cy="164592"/>
          </a:xfrm>
          <a:prstGeom prst="rt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0483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370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DC262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370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24231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3272" y="2331720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Created movies table with 15 fields matching movies.csv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2" y="2862072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Checked critical missing values and standardized fields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3483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3272" y="3392424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Calculated profitability, score_category, and decade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4014215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3272" y="3922775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Created movies_cleaned and exported for Excel and Power BI</a:t>
            </a:r>
          </a:p>
        </p:txBody>
      </p:sp>
      <p:pic>
        <p:nvPicPr>
          <p:cNvPr id="38" name="Picture 37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68680"/>
            <a:ext cx="5166360" cy="1257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6126480" y="3337560"/>
            <a:ext cx="51663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Missing value output</a:t>
            </a:r>
          </a:p>
        </p:txBody>
      </p:sp>
      <p:pic>
        <p:nvPicPr>
          <p:cNvPr id="40" name="Picture 39" descr="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483" y="3794760"/>
            <a:ext cx="3370353" cy="18288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6126480" y="5650992"/>
            <a:ext cx="51663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Score category 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Extraction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974466"/>
            <a:ext cx="5257800" cy="129718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2331720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Imported data preview: 7,668 rows</a:t>
            </a:r>
          </a:p>
        </p:txBody>
      </p:sp>
      <p:pic>
        <p:nvPicPr>
          <p:cNvPr id="9" name="Picture 8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055" y="2834640"/>
            <a:ext cx="4126426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074920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First 10 rows verification</a:t>
            </a:r>
          </a:p>
        </p:txBody>
      </p:sp>
      <p:pic>
        <p:nvPicPr>
          <p:cNvPr id="11" name="Picture 10" descr="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484" y="914400"/>
            <a:ext cx="4147231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3154680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Distinct genres</a:t>
            </a:r>
          </a:p>
        </p:txBody>
      </p:sp>
      <p:pic>
        <p:nvPicPr>
          <p:cNvPr id="13" name="Picture 12" descr="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02869"/>
            <a:ext cx="5074920" cy="123534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263640" y="4983480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Missing value check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Transformation and Load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707" y="914400"/>
            <a:ext cx="4131122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3154680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Profitability calculation</a:t>
            </a:r>
          </a:p>
        </p:txBody>
      </p:sp>
      <p:pic>
        <p:nvPicPr>
          <p:cNvPr id="9" name="Picture 8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190" y="3657600"/>
            <a:ext cx="2856155" cy="15544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230368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Decade column</a:t>
            </a:r>
          </a:p>
        </p:txBody>
      </p:sp>
      <p:pic>
        <p:nvPicPr>
          <p:cNvPr id="11" name="Picture 10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924732"/>
            <a:ext cx="5074920" cy="121377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2148840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Duplicate check: zero duplicate movie/year pairs</a:t>
            </a:r>
          </a:p>
        </p:txBody>
      </p:sp>
      <p:pic>
        <p:nvPicPr>
          <p:cNvPr id="13" name="Picture 12" descr="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429" y="2651760"/>
            <a:ext cx="4679342" cy="2514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263640" y="5193792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Cleaned table ready for export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43000"/>
            <a:ext cx="109728" cy="438912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Excel and Power BI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907792"/>
            <a:ext cx="9509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EDA visuals, dashboards and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309360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Aptos"/>
              </a:defRPr>
            </a:pPr>
            <a:r>
              <a:t>DA02 |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Excel EDA Question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Questions 1 to 10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Missing data handling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Sorting and filtering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Genre distribution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Budget vs gross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IMDb score categories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133087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04164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Country-wise production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64515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455371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Director analysis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157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506577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Runtime analysis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66928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557784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Top grossing movies by year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618134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608990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Rating popularity over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Questions 11 to 20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High-budget conditional formatting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Star impact analysis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Profitability calculation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Decade-wise analysis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362102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352958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Genre pivot table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0" y="4133087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404164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Runtime-score correlation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0" y="464515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11112" y="455371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Budget evolution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0" y="515721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11112" y="506577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Top companies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0" y="566928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11112" y="557784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Genre popularity over time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0" y="618134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11112" y="608990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Future gross forecast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Genre and Country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enre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2" y="914400"/>
            <a:ext cx="5039832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country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265" y="914400"/>
            <a:ext cx="3413669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Oval 8"/>
          <p:cNvSpPr/>
          <p:nvPr/>
        </p:nvSpPr>
        <p:spPr>
          <a:xfrm>
            <a:off x="914400" y="425195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4160520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Comedy has the highest movie volume; Action and Drama are also major categories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78231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690872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United States dominates production count, followed by United Kingdom and France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1266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5221224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Genre and country mix support portfolio and regional market decisions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Financial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udget_g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2" y="914400"/>
            <a:ext cx="5039832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top_mov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184" y="914400"/>
            <a:ext cx="5039832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Oval 8"/>
          <p:cNvSpPr/>
          <p:nvPr/>
        </p:nvSpPr>
        <p:spPr>
          <a:xfrm>
            <a:off x="914400" y="4251959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4160520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Budget and gross show a positive relationship, but high budget does not guarantee high revenue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78231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690872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Top profitable movies show the value of franchise strength and strong audience demand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12664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5221224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Profitability is more useful than gross alone because it includes production cost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Director, Star, Runtime and Company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rector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08954"/>
            <a:ext cx="3566160" cy="194261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tar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54688"/>
            <a:ext cx="3566160" cy="205114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9" name="Picture 8" descr="top_compan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147051"/>
            <a:ext cx="3429000" cy="186641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Oval 9"/>
          <p:cNvSpPr/>
          <p:nvPr/>
        </p:nvSpPr>
        <p:spPr>
          <a:xfrm>
            <a:off x="868680" y="397763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886200"/>
            <a:ext cx="993952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Director history helps estimate commercial consistency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50799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416552"/>
            <a:ext cx="993952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Star performance should be read with genre, director and franchise context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03834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946904"/>
            <a:ext cx="993952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High-volume studios benefit from distribution strength and repeat production systems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Trend and Forecast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fi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49" y="914400"/>
            <a:ext cx="4316637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budget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781" y="914400"/>
            <a:ext cx="4316637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9" name="Picture 8" descr="fore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301" y="3429000"/>
            <a:ext cx="4316637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Oval 9"/>
          <p:cNvSpPr/>
          <p:nvPr/>
        </p:nvSpPr>
        <p:spPr>
          <a:xfrm>
            <a:off x="914400" y="5897879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5806440"/>
            <a:ext cx="100309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30" b="0">
                <a:solidFill>
                  <a:srgbClr val="0F172A"/>
                </a:solidFill>
                <a:latin typeface="Aptos"/>
              </a:defRPr>
            </a:pPr>
            <a:r>
              <a:t>Profit and budget trend upward over time due to bigger markets and premium production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6227064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" y="6135624"/>
            <a:ext cx="100309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30" b="0">
                <a:solidFill>
                  <a:srgbClr val="0F172A"/>
                </a:solidFill>
                <a:latin typeface="Aptos"/>
              </a:defRPr>
            </a:pPr>
            <a:r>
              <a:t>Forecasting is directional and should be combined with genre, score, budget and release strategy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Key Insights and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96012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960120"/>
            <a:ext cx="73152" cy="86868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097280"/>
            <a:ext cx="24505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72184"/>
            <a:ext cx="24505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Strongest Profit Genre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96012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3320" y="960120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097280"/>
            <a:ext cx="24505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Comedy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472184"/>
            <a:ext cx="24505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Highest Movie Volume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96012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960120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097280"/>
            <a:ext cx="24505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United States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72184"/>
            <a:ext cx="24505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Market Leader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9601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64040" y="960120"/>
            <a:ext cx="73152" cy="8686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46919" y="1097280"/>
            <a:ext cx="162763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6.39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1472184"/>
            <a:ext cx="162763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Avg IMDb Score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" y="24231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2331720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Action produces the highest total profitability and is a strong investment category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29352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0432" y="2843784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Comedy has the largest content volume, but volume does not always equal profit</a:t>
            </a:r>
          </a:p>
        </p:txBody>
      </p:sp>
      <p:sp>
        <p:nvSpPr>
          <p:cNvPr id="27" name="Oval 26"/>
          <p:cNvSpPr/>
          <p:nvPr/>
        </p:nvSpPr>
        <p:spPr>
          <a:xfrm>
            <a:off x="960120" y="344728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0432" y="3355848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Budget and gross are related, yet audience response and franchise strength decide ROI</a:t>
            </a:r>
          </a:p>
        </p:txBody>
      </p:sp>
      <p:sp>
        <p:nvSpPr>
          <p:cNvPr id="29" name="Oval 28"/>
          <p:cNvSpPr/>
          <p:nvPr/>
        </p:nvSpPr>
        <p:spPr>
          <a:xfrm>
            <a:off x="960120" y="395935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0432" y="3867912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US production dominates; regional expansion can diversify audience growth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" y="44714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4379976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Runtime alone does not strongly explain IMDb score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Power BI Dashboard Page 1: Overall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932688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hatsApp Image 2026-05-29 at 5.58.55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21027"/>
            <a:ext cx="6629400" cy="375076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26679" y="1216152"/>
            <a:ext cx="33832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50" b="1">
                <a:solidFill>
                  <a:srgbClr val="11263A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0" name="Oval 9"/>
          <p:cNvSpPr/>
          <p:nvPr/>
        </p:nvSpPr>
        <p:spPr>
          <a:xfrm>
            <a:off x="7754112" y="181051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64424" y="1719072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Strong financial scale: $587.11bn gross and $347bn profit with 59.10% profitability.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754112" y="2340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64424" y="2249424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Action leads profit with about $155bn, while Comedy leads volume with nearly 2.2K movies.</a:t>
            </a:r>
          </a:p>
        </p:txBody>
      </p:sp>
      <p:sp>
        <p:nvSpPr>
          <p:cNvPr id="14" name="Oval 13"/>
          <p:cNvSpPr/>
          <p:nvPr/>
        </p:nvSpPr>
        <p:spPr>
          <a:xfrm>
            <a:off x="7754112" y="2871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64424" y="2779776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Top profitable movies are franchise/event titles such as Avatar, Avengers, Titanic and Star Wars.</a:t>
            </a:r>
          </a:p>
        </p:txBody>
      </p:sp>
      <p:sp>
        <p:nvSpPr>
          <p:cNvPr id="16" name="Oval 15"/>
          <p:cNvSpPr/>
          <p:nvPr/>
        </p:nvSpPr>
        <p:spPr>
          <a:xfrm>
            <a:off x="7754112" y="34015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4" y="3310127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ROI by genre highlights Family as a high-return segment, useful for lower-risk investment.</a:t>
            </a:r>
          </a:p>
        </p:txBody>
      </p:sp>
      <p:sp>
        <p:nvSpPr>
          <p:cNvPr id="18" name="Oval 17"/>
          <p:cNvSpPr/>
          <p:nvPr/>
        </p:nvSpPr>
        <p:spPr>
          <a:xfrm>
            <a:off x="7754112" y="393191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64424" y="3840479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Profit rose strongly over time, but the 2020 drop shows market disruption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577840"/>
            <a:ext cx="10469880" cy="530352"/>
          </a:xfrm>
          <a:prstGeom prst="round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678424"/>
            <a:ext cx="10012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20" b="0">
                <a:solidFill>
                  <a:srgbClr val="11263A"/>
                </a:solidFill>
                <a:latin typeface="Aptos"/>
              </a:defRPr>
            </a:pPr>
            <a:r>
              <a:t>Overall dashboard shows that genre-level ROI and franchise strength should guide budget allocation, not movie count alone.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Power BI Dashboard Page 2: Key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932688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hatsApp Image 2026-05-29 at 5.58.55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91479"/>
            <a:ext cx="6629400" cy="380986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26679" y="1216152"/>
            <a:ext cx="33832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50" b="1">
                <a:solidFill>
                  <a:srgbClr val="11263A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0" name="Oval 9"/>
          <p:cNvSpPr/>
          <p:nvPr/>
        </p:nvSpPr>
        <p:spPr>
          <a:xfrm>
            <a:off x="7754112" y="181051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64424" y="1719072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Robert Downey Jr., Tom Hanks and Tom Cruise appear among strong gross-generating stars.</a:t>
            </a:r>
          </a:p>
        </p:txBody>
      </p:sp>
      <p:sp>
        <p:nvSpPr>
          <p:cNvPr id="12" name="Oval 11"/>
          <p:cNvSpPr/>
          <p:nvPr/>
        </p:nvSpPr>
        <p:spPr>
          <a:xfrm>
            <a:off x="7754112" y="2340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64424" y="2249424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Anthony Russo, Chris Buck and Kyle Balda stand out among top directors by profit.</a:t>
            </a:r>
          </a:p>
        </p:txBody>
      </p:sp>
      <p:sp>
        <p:nvSpPr>
          <p:cNvPr id="14" name="Oval 13"/>
          <p:cNvSpPr/>
          <p:nvPr/>
        </p:nvSpPr>
        <p:spPr>
          <a:xfrm>
            <a:off x="7754112" y="2871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64424" y="2779776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Budget vs gross scatter shows positive relation, but outliers prove high budget is not enough.</a:t>
            </a:r>
          </a:p>
        </p:txBody>
      </p:sp>
      <p:sp>
        <p:nvSpPr>
          <p:cNvPr id="16" name="Oval 15"/>
          <p:cNvSpPr/>
          <p:nvPr/>
        </p:nvSpPr>
        <p:spPr>
          <a:xfrm>
            <a:off x="7754112" y="34015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4" y="3310127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United States dominates production count, indicating strong Hollywood concentration.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7754112" y="393191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64424" y="3840479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Highly rated and highly profitable genres help identify quality-plus-profit investment areas.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577840"/>
            <a:ext cx="10469880" cy="530352"/>
          </a:xfrm>
          <a:prstGeom prst="round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678424"/>
            <a:ext cx="10012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20" b="0">
                <a:solidFill>
                  <a:srgbClr val="11263A"/>
                </a:solidFill>
                <a:latin typeface="Aptos"/>
              </a:defRPr>
            </a:pPr>
            <a:r>
              <a:t>Key analysis dashboard supports casting, director selection, country focus and genre investment decisions.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Power BI Dashboard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enre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00" y="914400"/>
            <a:ext cx="4612536" cy="2514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genre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98" y="914400"/>
            <a:ext cx="4845204" cy="2514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Oval 8"/>
          <p:cNvSpPr/>
          <p:nvPr/>
        </p:nvSpPr>
        <p:spPr>
          <a:xfrm>
            <a:off x="914400" y="406907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3977639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Action is the highest profit genre with about $155B profit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57199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480559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Comedy leads movie volume, proving that volume and profit are different decisions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07491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4983479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Profit trend rises strongly before the 2020 disruption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57784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5486400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Budget-gross visuals help identify overinvestment and high-return outliers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43000"/>
            <a:ext cx="109728" cy="438912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n8n Automation and 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907792"/>
            <a:ext cx="9509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Automated insight delivery and AI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309360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Aptos"/>
              </a:defRPr>
            </a:pPr>
            <a:r>
              <a:t>DA02 |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Workflow 1: Movie Performance Insight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Schedule Trigger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79192" y="1380743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16936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Postgres KPIs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773168" y="1380743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10912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Code Formatter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6867144" y="1380743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04888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GenAI Request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8961120" y="1380743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98864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17736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Email Summary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251460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2423160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Input: top gross movies, ROI ratio, high-rated titles and weak high-budget movies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308152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0432" y="2990088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Prompt: summarize performance and identify success/failure patterns</a:t>
            </a:r>
          </a:p>
        </p:txBody>
      </p:sp>
      <p:sp>
        <p:nvSpPr>
          <p:cNvPr id="30" name="Oval 29"/>
          <p:cNvSpPr/>
          <p:nvPr/>
        </p:nvSpPr>
        <p:spPr>
          <a:xfrm>
            <a:off x="960120" y="364845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0432" y="3557015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Output: plain-English weekly insight summary sent by email or Slack</a:t>
            </a:r>
          </a:p>
        </p:txBody>
      </p:sp>
      <p:sp>
        <p:nvSpPr>
          <p:cNvPr id="32" name="Oval 31"/>
          <p:cNvSpPr/>
          <p:nvPr/>
        </p:nvSpPr>
        <p:spPr>
          <a:xfrm>
            <a:off x="960120" y="4215383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70432" y="4123944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Business value: decision-makers get dashboard insights without opening the dashboard daily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Workflow 2: AI Movie Recommendation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Webhook Form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79192" y="1380743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16936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Postgres Data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773168" y="1380743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10912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Code Context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6867144" y="1380743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04888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GenAI Reasoning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8961120" y="1380743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98864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17736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Text Reply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251460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2423160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Input: user question such as why a movie underperformed or which genre gives best ROI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308152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0432" y="2990088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Data fetched: budget, gross, genre, IMDb score, votes and runtime</a:t>
            </a:r>
          </a:p>
        </p:txBody>
      </p:sp>
      <p:sp>
        <p:nvSpPr>
          <p:cNvPr id="30" name="Oval 29"/>
          <p:cNvSpPr/>
          <p:nvPr/>
        </p:nvSpPr>
        <p:spPr>
          <a:xfrm>
            <a:off x="960120" y="364845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0432" y="3557015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Prompt: explain performance and compare with similar movies</a:t>
            </a:r>
          </a:p>
        </p:txBody>
      </p:sp>
      <p:sp>
        <p:nvSpPr>
          <p:cNvPr id="32" name="Oval 31"/>
          <p:cNvSpPr/>
          <p:nvPr/>
        </p:nvSpPr>
        <p:spPr>
          <a:xfrm>
            <a:off x="960120" y="4215383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70432" y="4123944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Output: data-backed explanation and action recommendation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GitHub Repository and GenAI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Repository Must Include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n8n workflow JSON exports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README.md with problem statement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Workflow step explanation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Screenshots and sample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GenAI Usage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Input: structured KPI/movie data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Prompt: summarize, explain and recommend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Output: business-readable insight text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Security: use credentials, never hard-code API keys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Executive Action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23444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1143000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Prioritize Action, Animation and proven franchise films for high-budget investment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18562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1764792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Use IMDb score, votes, genre, star, director and budget benchmarks before approving major releases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478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2386584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Control risk by comparing expected ROI with genre-level performance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0998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3008376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Expand regional content in high-growth markets to diversify audience reach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72160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0432" y="3630168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Automate weekly performance summaries using n8n and GenAI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Implementation Roadmap and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0-3 months: validate KPIs, clean data, automate weekly summaries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3-6 months: refine dashboard filters and GenAI explanations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6-12 months: scale content ROI forecasting and regional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Ongoing: monitor churn, ROI and content demand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End-to-end analytics workflow practice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SQL cleaning and Excel visualization discipline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Power BI storytelling for business decisions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Automation mindset using n8n and GenAI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926080"/>
            <a:ext cx="102412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Aptos"/>
              </a:defRPr>
            </a:pPr>
            <a:r>
              <a:t>DA02: CinemaScope Analytics - Unveiling the Dynamics of Movie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2008</Words>
  <Application>Microsoft Office PowerPoint</Application>
  <PresentationFormat>Widescreen</PresentationFormat>
  <Paragraphs>364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ankit mishra</cp:lastModifiedBy>
  <cp:revision>5</cp:revision>
  <dcterms:created xsi:type="dcterms:W3CDTF">2013-01-27T09:14:16Z</dcterms:created>
  <dcterms:modified xsi:type="dcterms:W3CDTF">2026-05-31T13:04:39Z</dcterms:modified>
  <cp:category/>
</cp:coreProperties>
</file>